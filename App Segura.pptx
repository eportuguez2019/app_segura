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DM Sans" panose="020B0604020202020204" charset="0"/>
      <p:regular r:id="rId13"/>
    </p:embeddedFont>
    <p:embeddedFont>
      <p:font typeface="Arimo" panose="020B0604020202020204" charset="0"/>
      <p:regular r:id="rId14"/>
    </p:embeddedFont>
    <p:embeddedFont>
      <p:font typeface="DM Sans Bold" panose="020B0604020202020204" charset="0"/>
      <p:regular r:id="rId15"/>
    </p:embeddedFont>
    <p:embeddedFont>
      <p:font typeface="Arimo Bold" panose="020B0604020202020204" charset="0"/>
      <p:regular r:id="rId16"/>
    </p:embeddedFont>
    <p:embeddedFont>
      <p:font typeface="Raleway" panose="020B0604020202020204" charset="0"/>
      <p:regular r:id="rId17"/>
    </p:embeddedFont>
    <p:embeddedFont>
      <p:font typeface="Raleway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446656" y="7323001"/>
            <a:ext cx="19162261" cy="429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0"/>
              </a:lnSpc>
            </a:pPr>
            <a:r>
              <a:rPr lang="en-US" sz="30000" dirty="0">
                <a:solidFill>
                  <a:srgbClr val="737373">
                    <a:alpha val="35686"/>
                  </a:srgbClr>
                </a:solidFill>
                <a:latin typeface="DM Sans Bold"/>
              </a:rPr>
              <a:t>Seguridad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-437131" y="4596676"/>
            <a:ext cx="19162261" cy="429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0"/>
              </a:lnSpc>
            </a:pPr>
            <a:r>
              <a:rPr lang="en-US" sz="30000" dirty="0">
                <a:solidFill>
                  <a:srgbClr val="BA568F">
                    <a:alpha val="35686"/>
                  </a:srgbClr>
                </a:solidFill>
                <a:latin typeface="DM Sans Bold"/>
              </a:rPr>
              <a:t>Seguridad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446656" y="1846394"/>
            <a:ext cx="19162261" cy="429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0"/>
              </a:lnSpc>
            </a:pPr>
            <a:r>
              <a:rPr lang="en-US" sz="30000" dirty="0">
                <a:solidFill>
                  <a:srgbClr val="75E6DA">
                    <a:alpha val="45882"/>
                  </a:srgbClr>
                </a:solidFill>
                <a:latin typeface="DM Sans Bold"/>
              </a:rPr>
              <a:t>Seguridad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650606" y="5238545"/>
            <a:ext cx="2664303" cy="4283213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44898" y="6444904"/>
            <a:ext cx="2171997" cy="3670151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b="66690"/>
          <a:stretch>
            <a:fillRect/>
          </a:stretch>
        </p:blipFill>
        <p:spPr>
          <a:xfrm>
            <a:off x="5518041" y="8889243"/>
            <a:ext cx="4206556" cy="1727918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 r="10443" b="39994"/>
          <a:stretch>
            <a:fillRect/>
          </a:stretch>
        </p:blipFill>
        <p:spPr>
          <a:xfrm>
            <a:off x="8510475" y="5748437"/>
            <a:ext cx="6667568" cy="5205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-437131" y="-846121"/>
            <a:ext cx="19162261" cy="429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0"/>
              </a:lnSpc>
            </a:pPr>
            <a:r>
              <a:rPr lang="en-US" sz="30000" dirty="0">
                <a:solidFill>
                  <a:srgbClr val="FFE384">
                    <a:alpha val="56862"/>
                  </a:srgbClr>
                </a:solidFill>
                <a:latin typeface="DM Sans Bold"/>
              </a:rPr>
              <a:t>Seguridad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28228" y="1028700"/>
            <a:ext cx="2737280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91"/>
              </a:lnSpc>
            </a:pPr>
            <a:r>
              <a:rPr lang="en-US" sz="2410" dirty="0" smtClean="0">
                <a:solidFill>
                  <a:srgbClr val="000000"/>
                </a:solidFill>
                <a:latin typeface="DM Sans"/>
              </a:rPr>
              <a:t>Setiembre  </a:t>
            </a:r>
            <a:r>
              <a:rPr lang="en-US" sz="2410" dirty="0" smtClean="0">
                <a:solidFill>
                  <a:srgbClr val="000000"/>
                </a:solidFill>
                <a:latin typeface="DM Sans"/>
              </a:rPr>
              <a:t>11,</a:t>
            </a:r>
            <a:r>
              <a:rPr lang="en-US" sz="2410" u="none" dirty="0" smtClean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2410" u="none" dirty="0">
                <a:solidFill>
                  <a:srgbClr val="000000"/>
                </a:solidFill>
                <a:latin typeface="DM Sans"/>
              </a:rPr>
              <a:t>2020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4561" y="1972506"/>
            <a:ext cx="16444739" cy="328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300"/>
              </a:lnSpc>
            </a:pPr>
            <a:r>
              <a:rPr lang="en-US" sz="23000">
                <a:solidFill>
                  <a:srgbClr val="BA568F"/>
                </a:solidFill>
                <a:latin typeface="DM Sans Bold"/>
              </a:rPr>
              <a:t>App Segura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930441" y="1390650"/>
            <a:ext cx="3328859" cy="362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92"/>
              </a:lnSpc>
            </a:pPr>
            <a:r>
              <a:rPr lang="en-US" sz="2410">
                <a:solidFill>
                  <a:srgbClr val="000000"/>
                </a:solidFill>
                <a:latin typeface="DM Sans"/>
              </a:rPr>
              <a:t>Elena Portuguez Mora 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2609" y="2075481"/>
            <a:ext cx="16602781" cy="328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300"/>
              </a:lnSpc>
            </a:pPr>
            <a:r>
              <a:rPr lang="en-US" sz="23000">
                <a:solidFill>
                  <a:srgbClr val="010100"/>
                </a:solidFill>
                <a:latin typeface="DM Sans Bold"/>
              </a:rPr>
              <a:t>App Segura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20202" y="4801364"/>
            <a:ext cx="4328186" cy="5143500"/>
            <a:chOff x="0" y="0"/>
            <a:chExt cx="5770914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1276697" y="0"/>
              <a:ext cx="2952985" cy="4682701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b="40310"/>
            <a:stretch>
              <a:fillRect/>
            </a:stretch>
          </p:blipFill>
          <p:spPr>
            <a:xfrm>
              <a:off x="0" y="3262476"/>
              <a:ext cx="5770914" cy="3595524"/>
            </a:xfrm>
            <a:prstGeom prst="rect">
              <a:avLst/>
            </a:prstGeom>
          </p:spPr>
        </p:pic>
      </p:grpSp>
      <p:sp>
        <p:nvSpPr>
          <p:cNvPr id="5" name="TextBox 5"/>
          <p:cNvSpPr txBox="1"/>
          <p:nvPr/>
        </p:nvSpPr>
        <p:spPr>
          <a:xfrm>
            <a:off x="11286700" y="5094420"/>
            <a:ext cx="5535469" cy="2801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00"/>
              </a:lnSpc>
            </a:pPr>
            <a:r>
              <a:rPr lang="en-US" sz="4000">
                <a:solidFill>
                  <a:srgbClr val="000000"/>
                </a:solidFill>
                <a:latin typeface="DM Sans Bold"/>
              </a:rPr>
              <a:t>Si eres usuaria de Apple, Android, Huawei tienes una increíble oportunidad!!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048794"/>
            <a:ext cx="7618049" cy="490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0000"/>
                </a:solidFill>
                <a:latin typeface="DM Sans Bold"/>
              </a:rPr>
              <a:t>1. Sensor de movimiento</a:t>
            </a:r>
          </a:p>
          <a:p>
            <a:pPr algn="ctr">
              <a:lnSpc>
                <a:spcPts val="5500"/>
              </a:lnSpc>
            </a:pPr>
            <a:endParaRPr lang="en-US" sz="5000">
              <a:solidFill>
                <a:srgbClr val="000000"/>
              </a:solidFill>
              <a:latin typeface="DM Sans Bold"/>
            </a:endParaRPr>
          </a:p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0000"/>
                </a:solidFill>
                <a:latin typeface="DM Sans Bold"/>
              </a:rPr>
              <a:t>2. Presionando 5 veces el botón de bloqueo</a:t>
            </a:r>
          </a:p>
          <a:p>
            <a:pPr algn="ctr">
              <a:lnSpc>
                <a:spcPts val="5500"/>
              </a:lnSpc>
            </a:pPr>
            <a:endParaRPr lang="en-US" sz="5000">
              <a:solidFill>
                <a:srgbClr val="000000"/>
              </a:solidFill>
              <a:latin typeface="DM Sans Bold"/>
            </a:endParaRPr>
          </a:p>
          <a:p>
            <a:pPr marL="0" lvl="0" indent="0" algn="ctr">
              <a:lnSpc>
                <a:spcPts val="5500"/>
              </a:lnSpc>
            </a:pPr>
            <a:r>
              <a:rPr lang="en-US" sz="5000">
                <a:solidFill>
                  <a:srgbClr val="000000"/>
                </a:solidFill>
                <a:latin typeface="DM Sans Bold"/>
              </a:rPr>
              <a:t>3. Directamente desde la aplicación.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49207"/>
            <a:ext cx="16230600" cy="2115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500"/>
              </a:lnSpc>
            </a:pPr>
            <a:r>
              <a:rPr lang="en-US" sz="5000">
                <a:solidFill>
                  <a:srgbClr val="000000"/>
                </a:solidFill>
                <a:latin typeface="DM Sans Bold"/>
              </a:rPr>
              <a:t>App segura es una aplicación que ayuda a mujeres en situaciones de peligro, contiene en un botón de pánico el cual es activado de tres formas: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49622" y="1094422"/>
            <a:ext cx="11588757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75E6DA"/>
                </a:solidFill>
                <a:latin typeface="Raleway"/>
              </a:rPr>
              <a:t>Línea de crecimiento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349622" y="2426312"/>
            <a:ext cx="1158875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spc="200">
                <a:solidFill>
                  <a:srgbClr val="EBFDFF"/>
                </a:solidFill>
                <a:latin typeface="Raleway Bold"/>
              </a:rPr>
              <a:t>¿QUÉ QUISIERA LOGRAR?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66513" y="5708484"/>
            <a:ext cx="3418058" cy="2662246"/>
            <a:chOff x="0" y="0"/>
            <a:chExt cx="4557411" cy="3549662"/>
          </a:xfrm>
        </p:grpSpPr>
        <p:sp>
          <p:nvSpPr>
            <p:cNvPr id="5" name="TextBox 5"/>
            <p:cNvSpPr txBox="1"/>
            <p:nvPr/>
          </p:nvSpPr>
          <p:spPr>
            <a:xfrm>
              <a:off x="0" y="930205"/>
              <a:ext cx="4557411" cy="26194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 spc="48">
                  <a:solidFill>
                    <a:srgbClr val="EBFDFF"/>
                  </a:solidFill>
                  <a:latin typeface="Raleway"/>
                </a:rPr>
                <a:t>Implementación del app enhoteles de zonas costeras o sitios con más casos de abusos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557411" cy="647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00"/>
                </a:lnSpc>
              </a:pPr>
              <a:r>
                <a:rPr lang="en-US" sz="3000" spc="270">
                  <a:solidFill>
                    <a:srgbClr val="75E6DA"/>
                  </a:solidFill>
                  <a:latin typeface="Raleway"/>
                </a:rPr>
                <a:t>HOTELES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650834" y="5708484"/>
            <a:ext cx="4015770" cy="2866180"/>
            <a:chOff x="0" y="0"/>
            <a:chExt cx="5354359" cy="3821573"/>
          </a:xfrm>
        </p:grpSpPr>
        <p:sp>
          <p:nvSpPr>
            <p:cNvPr id="8" name="TextBox 8"/>
            <p:cNvSpPr txBox="1"/>
            <p:nvPr/>
          </p:nvSpPr>
          <p:spPr>
            <a:xfrm>
              <a:off x="0" y="2250915"/>
              <a:ext cx="5354359" cy="1570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 spc="48">
                  <a:solidFill>
                    <a:srgbClr val="EBFDFF"/>
                  </a:solidFill>
                  <a:latin typeface="Raleway"/>
                </a:rPr>
                <a:t>Cabinas, Hosteles, Moteles, Airbnb, Pensiones estudiantiles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354359" cy="19683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00"/>
                </a:lnSpc>
              </a:pPr>
              <a:r>
                <a:rPr lang="en-US" sz="3000" spc="270">
                  <a:solidFill>
                    <a:srgbClr val="75E6DA"/>
                  </a:solidFill>
                  <a:latin typeface="Raleway"/>
                </a:rPr>
                <a:t>SITIOS DE HOSPEDAJE VARIADO 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822051" y="5708484"/>
            <a:ext cx="3578639" cy="2866180"/>
            <a:chOff x="0" y="0"/>
            <a:chExt cx="4771518" cy="3821573"/>
          </a:xfrm>
        </p:grpSpPr>
        <p:sp>
          <p:nvSpPr>
            <p:cNvPr id="11" name="TextBox 11"/>
            <p:cNvSpPr txBox="1"/>
            <p:nvPr/>
          </p:nvSpPr>
          <p:spPr>
            <a:xfrm>
              <a:off x="0" y="2250915"/>
              <a:ext cx="4771518" cy="1570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9"/>
                </a:lnSpc>
              </a:pPr>
              <a:r>
                <a:rPr lang="en-US" sz="2400" spc="48">
                  <a:solidFill>
                    <a:srgbClr val="EBFDFF"/>
                  </a:solidFill>
                  <a:latin typeface="Raleway"/>
                </a:rPr>
                <a:t>En torres, multifamiliares,</a:t>
              </a:r>
            </a:p>
            <a:p>
              <a:pPr algn="ctr">
                <a:lnSpc>
                  <a:spcPts val="3120"/>
                </a:lnSpc>
              </a:pPr>
              <a:r>
                <a:rPr lang="en-US" sz="2399" spc="47">
                  <a:solidFill>
                    <a:srgbClr val="EBFDFF"/>
                  </a:solidFill>
                  <a:latin typeface="Raleway"/>
                </a:rPr>
                <a:t>y condominios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771518" cy="19683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00"/>
                </a:lnSpc>
              </a:pPr>
              <a:r>
                <a:rPr lang="en-US" sz="3000" spc="270">
                  <a:solidFill>
                    <a:srgbClr val="75E6DA"/>
                  </a:solidFill>
                  <a:latin typeface="Raleway"/>
                </a:rPr>
                <a:t>COMPLEJO </a:t>
              </a:r>
            </a:p>
            <a:p>
              <a:pPr algn="ctr">
                <a:lnSpc>
                  <a:spcPts val="3900"/>
                </a:lnSpc>
              </a:pPr>
              <a:r>
                <a:rPr lang="en-US" sz="3000" spc="270">
                  <a:solidFill>
                    <a:srgbClr val="75E6DA"/>
                  </a:solidFill>
                  <a:latin typeface="Raleway"/>
                </a:rPr>
                <a:t>DE APARTAMENTOS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732535" y="5708484"/>
            <a:ext cx="4547827" cy="2866180"/>
            <a:chOff x="0" y="0"/>
            <a:chExt cx="6063769" cy="3821573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38100"/>
              <a:ext cx="6063769" cy="19683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00"/>
                </a:lnSpc>
              </a:pPr>
              <a:r>
                <a:rPr lang="en-US" sz="3000" spc="270">
                  <a:solidFill>
                    <a:srgbClr val="75E6DA"/>
                  </a:solidFill>
                  <a:latin typeface="Raleway"/>
                </a:rPr>
                <a:t>ASOCIACIONES DE VECINOS ORGANIZADOS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2250915"/>
              <a:ext cx="6063769" cy="1570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 spc="48">
                  <a:solidFill>
                    <a:srgbClr val="EBFDFF"/>
                  </a:solidFill>
                  <a:latin typeface="Raleway"/>
                </a:rPr>
                <a:t>Programas de acompañamieto, muestra y prueba de la aplicación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-200573" y="4730651"/>
            <a:ext cx="18717173" cy="127741"/>
          </a:xfrm>
          <a:prstGeom prst="rect">
            <a:avLst/>
          </a:prstGeom>
          <a:solidFill>
            <a:srgbClr val="EBFDFF"/>
          </a:solidFill>
        </p:spPr>
      </p:sp>
      <p:grpSp>
        <p:nvGrpSpPr>
          <p:cNvPr id="17" name="Group 17"/>
          <p:cNvGrpSpPr/>
          <p:nvPr/>
        </p:nvGrpSpPr>
        <p:grpSpPr>
          <a:xfrm>
            <a:off x="2441347" y="4583864"/>
            <a:ext cx="421315" cy="421315"/>
            <a:chOff x="0" y="0"/>
            <a:chExt cx="6350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EBFD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6571887" y="4602914"/>
            <a:ext cx="421315" cy="421315"/>
            <a:chOff x="0" y="0"/>
            <a:chExt cx="6350000" cy="6350000"/>
          </a:xfrm>
        </p:grpSpPr>
        <p:sp>
          <p:nvSpPr>
            <p:cNvPr id="20" name="Freeform 20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EBFD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0511927" y="4583864"/>
            <a:ext cx="421315" cy="421315"/>
            <a:chOff x="0" y="0"/>
            <a:chExt cx="6350000" cy="6350000"/>
          </a:xfrm>
        </p:grpSpPr>
        <p:sp>
          <p:nvSpPr>
            <p:cNvPr id="22" name="Freeform 22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EBFDFF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4937741" y="4583864"/>
            <a:ext cx="421315" cy="421315"/>
            <a:chOff x="0" y="0"/>
            <a:chExt cx="6350000" cy="6350000"/>
          </a:xfrm>
        </p:grpSpPr>
        <p:sp>
          <p:nvSpPr>
            <p:cNvPr id="24" name="Freeform 24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EBFDFF"/>
            </a:solidFill>
          </p:spPr>
        </p:sp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-5400000">
            <a:off x="0" y="8575483"/>
            <a:ext cx="1711517" cy="1711517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5400000">
            <a:off x="16576483" y="0"/>
            <a:ext cx="1711517" cy="1711517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1078593" y="9537554"/>
            <a:ext cx="6668494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144">
                <a:solidFill>
                  <a:srgbClr val="EBFDFF"/>
                </a:solidFill>
                <a:latin typeface="Raleway"/>
              </a:rPr>
              <a:t>Elena Portuguez Mora - 2020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791688" y="1544490"/>
            <a:ext cx="5592491" cy="4194368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762587" y="4650104"/>
            <a:ext cx="1634183" cy="5161405"/>
            <a:chOff x="0" y="0"/>
            <a:chExt cx="2178911" cy="6881874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618120" y="0"/>
              <a:ext cx="950729" cy="1657391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958" t="958" r="2927" b="627"/>
            <a:stretch>
              <a:fillRect/>
            </a:stretch>
          </p:blipFill>
          <p:spPr>
            <a:xfrm>
              <a:off x="575804" y="2532133"/>
              <a:ext cx="1413464" cy="4349741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/>
            <a:srcRect r="368" b="450"/>
            <a:stretch>
              <a:fillRect/>
            </a:stretch>
          </p:blipFill>
          <p:spPr>
            <a:xfrm>
              <a:off x="0" y="1135775"/>
              <a:ext cx="2178911" cy="2283513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7763026" y="3793357"/>
            <a:ext cx="9700237" cy="5405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9"/>
              </a:lnSpc>
            </a:pPr>
            <a:r>
              <a:rPr lang="en-US" sz="2999">
                <a:solidFill>
                  <a:srgbClr val="000000"/>
                </a:solidFill>
                <a:latin typeface="DM Sans"/>
              </a:rPr>
              <a:t>Envío de archivos multimedia: audio de 10 </a:t>
            </a:r>
            <a:r>
              <a:rPr lang="en-US" sz="2999">
                <a:solidFill>
                  <a:srgbClr val="000000"/>
                </a:solidFill>
                <a:latin typeface="Arimo"/>
              </a:rPr>
              <a:t>segundos cuando se activa el botón </a:t>
            </a:r>
          </a:p>
          <a:p>
            <a:pPr>
              <a:lnSpc>
                <a:spcPts val="3299"/>
              </a:lnSpc>
            </a:pPr>
            <a:r>
              <a:rPr lang="en-US" sz="2999">
                <a:solidFill>
                  <a:srgbClr val="000000"/>
                </a:solidFill>
                <a:latin typeface="Arimo"/>
              </a:rPr>
              <a:t> </a:t>
            </a:r>
          </a:p>
          <a:p>
            <a:pPr>
              <a:lnSpc>
                <a:spcPts val="3299"/>
              </a:lnSpc>
            </a:pPr>
            <a:r>
              <a:rPr lang="en-US" sz="2999">
                <a:solidFill>
                  <a:srgbClr val="000000"/>
                </a:solidFill>
                <a:latin typeface="Arimo"/>
              </a:rPr>
              <a:t>3 contactos de emergencia y acceso rápido al 911.</a:t>
            </a:r>
          </a:p>
          <a:p>
            <a:pPr>
              <a:lnSpc>
                <a:spcPts val="3299"/>
              </a:lnSpc>
            </a:pPr>
            <a:r>
              <a:rPr lang="en-US" sz="2999">
                <a:solidFill>
                  <a:srgbClr val="000000"/>
                </a:solidFill>
                <a:latin typeface="Arimo"/>
              </a:rPr>
              <a:t> </a:t>
            </a:r>
          </a:p>
          <a:p>
            <a:pPr>
              <a:lnSpc>
                <a:spcPts val="3299"/>
              </a:lnSpc>
            </a:pPr>
            <a:r>
              <a:rPr lang="en-US" sz="2999">
                <a:solidFill>
                  <a:srgbClr val="000000"/>
                </a:solidFill>
                <a:latin typeface="Arimo"/>
              </a:rPr>
              <a:t>Personalización del SMS y llamada que reciben los contactos de emergencia</a:t>
            </a:r>
          </a:p>
          <a:p>
            <a:pPr>
              <a:lnSpc>
                <a:spcPts val="3299"/>
              </a:lnSpc>
            </a:pPr>
            <a:r>
              <a:rPr lang="en-US" sz="2999">
                <a:solidFill>
                  <a:srgbClr val="000000"/>
                </a:solidFill>
                <a:latin typeface="Arimo"/>
              </a:rPr>
              <a:t> </a:t>
            </a:r>
          </a:p>
          <a:p>
            <a:pPr>
              <a:lnSpc>
                <a:spcPts val="3299"/>
              </a:lnSpc>
            </a:pPr>
            <a:r>
              <a:rPr lang="en-US" sz="2999">
                <a:solidFill>
                  <a:srgbClr val="000000"/>
                </a:solidFill>
                <a:latin typeface="Arimo"/>
              </a:rPr>
              <a:t>Red de apoyo App Segura, notificación cuando alguien</a:t>
            </a:r>
          </a:p>
          <a:p>
            <a:pPr>
              <a:lnSpc>
                <a:spcPts val="3300"/>
              </a:lnSpc>
            </a:pPr>
            <a:r>
              <a:rPr lang="en-US" sz="2999">
                <a:solidFill>
                  <a:srgbClr val="000000"/>
                </a:solidFill>
                <a:latin typeface="Arimo"/>
              </a:rPr>
              <a:t>cercano active la alerta</a:t>
            </a:r>
          </a:p>
          <a:p>
            <a:pPr>
              <a:lnSpc>
                <a:spcPts val="3300"/>
              </a:lnSpc>
            </a:pPr>
            <a:endParaRPr lang="en-US" sz="2999">
              <a:solidFill>
                <a:srgbClr val="000000"/>
              </a:solidFill>
              <a:latin typeface="Arimo"/>
            </a:endParaRPr>
          </a:p>
          <a:p>
            <a:pPr marL="0" lvl="0" indent="0">
              <a:lnSpc>
                <a:spcPts val="3299"/>
              </a:lnSpc>
            </a:pPr>
            <a:r>
              <a:rPr lang="en-US" sz="3000">
                <a:solidFill>
                  <a:srgbClr val="000000"/>
                </a:solidFill>
                <a:latin typeface="DM Sans"/>
              </a:rPr>
              <a:t>Localización automática que permite a tus contactos ver tu posición en tiempo real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78979" y="1152525"/>
            <a:ext cx="10373080" cy="2115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00"/>
              </a:lnSpc>
            </a:pPr>
            <a:r>
              <a:rPr lang="en-US" sz="5000" dirty="0">
                <a:solidFill>
                  <a:srgbClr val="000000"/>
                </a:solidFill>
                <a:latin typeface="DM Sans Bold"/>
              </a:rPr>
              <a:t>Seguridad </a:t>
            </a:r>
            <a:r>
              <a:rPr lang="en-US" sz="5000" dirty="0" err="1">
                <a:solidFill>
                  <a:srgbClr val="000000"/>
                </a:solidFill>
                <a:latin typeface="DM Sans Bold"/>
              </a:rPr>
              <a:t>en</a:t>
            </a:r>
            <a:r>
              <a:rPr lang="en-US" sz="5000" dirty="0">
                <a:solidFill>
                  <a:srgbClr val="000000"/>
                </a:solidFill>
                <a:latin typeface="DM Sans Bold"/>
              </a:rPr>
              <a:t> la </a:t>
            </a:r>
            <a:r>
              <a:rPr lang="en-US" sz="5000" dirty="0" err="1">
                <a:solidFill>
                  <a:srgbClr val="000000"/>
                </a:solidFill>
                <a:latin typeface="Arimo Bold"/>
              </a:rPr>
              <a:t>palma</a:t>
            </a:r>
            <a:r>
              <a:rPr lang="en-US" sz="5000" dirty="0">
                <a:solidFill>
                  <a:srgbClr val="000000"/>
                </a:solidFill>
                <a:latin typeface="Arimo Bold"/>
              </a:rPr>
              <a:t> de </a:t>
            </a:r>
            <a:r>
              <a:rPr lang="en-US" sz="5000" dirty="0" err="1">
                <a:solidFill>
                  <a:srgbClr val="000000"/>
                </a:solidFill>
                <a:latin typeface="Arimo Bold"/>
              </a:rPr>
              <a:t>tu</a:t>
            </a:r>
            <a:r>
              <a:rPr lang="en-US" sz="5000" dirty="0">
                <a:solidFill>
                  <a:srgbClr val="000000"/>
                </a:solidFill>
                <a:latin typeface="Arimo Bold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Arimo Bold"/>
              </a:rPr>
              <a:t>mano</a:t>
            </a:r>
            <a:r>
              <a:rPr lang="en-US" sz="5000" dirty="0">
                <a:solidFill>
                  <a:srgbClr val="000000"/>
                </a:solidFill>
                <a:latin typeface="Arimo Bold"/>
              </a:rPr>
              <a:t>, con </a:t>
            </a:r>
            <a:r>
              <a:rPr lang="en-US" sz="5000" dirty="0" err="1">
                <a:solidFill>
                  <a:srgbClr val="000000"/>
                </a:solidFill>
                <a:latin typeface="Arimo Bold"/>
              </a:rPr>
              <a:t>cada</a:t>
            </a:r>
            <a:r>
              <a:rPr lang="en-US" sz="5000" dirty="0">
                <a:solidFill>
                  <a:srgbClr val="000000"/>
                </a:solidFill>
                <a:latin typeface="Arimo Bold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Arimo Bold"/>
              </a:rPr>
              <a:t>uno</a:t>
            </a:r>
            <a:r>
              <a:rPr lang="en-US" sz="5000" dirty="0">
                <a:solidFill>
                  <a:srgbClr val="000000"/>
                </a:solidFill>
                <a:latin typeface="Arimo Bold"/>
              </a:rPr>
              <a:t> de </a:t>
            </a:r>
            <a:r>
              <a:rPr lang="en-US" sz="5000" dirty="0" err="1">
                <a:solidFill>
                  <a:srgbClr val="000000"/>
                </a:solidFill>
                <a:latin typeface="Arimo Bold"/>
              </a:rPr>
              <a:t>tus</a:t>
            </a:r>
            <a:r>
              <a:rPr lang="en-US" sz="5000" dirty="0">
                <a:solidFill>
                  <a:srgbClr val="000000"/>
                </a:solidFill>
                <a:latin typeface="Arimo Bold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Arimo Bold"/>
              </a:rPr>
              <a:t>dispositivos</a:t>
            </a:r>
            <a:endParaRPr lang="en-US" sz="5000" dirty="0">
              <a:solidFill>
                <a:srgbClr val="000000"/>
              </a:solidFill>
              <a:latin typeface="Arim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196746" y="2700188"/>
            <a:ext cx="4682233" cy="2094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"/>
              </a:lnSpc>
            </a:pPr>
            <a:r>
              <a:rPr lang="en-US" sz="3000">
                <a:solidFill>
                  <a:srgbClr val="000000"/>
                </a:solidFill>
                <a:latin typeface="DM Sans Bold"/>
              </a:rPr>
              <a:t>Al activar el botón, tus contactos de emergencia reciben un sms con un link de tu ubicación.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rcRect l="4424" t="17347" r="976" b="263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121" b="121"/>
          <a:stretch>
            <a:fillRect/>
          </a:stretch>
        </p:blipFill>
        <p:spPr>
          <a:xfrm rot="-5400000">
            <a:off x="-230361" y="4624320"/>
            <a:ext cx="5855058" cy="5855058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2872" y="183238"/>
            <a:ext cx="2854137" cy="285413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l="33948" t="34285" r="39989" b="41031"/>
          <a:stretch>
            <a:fillRect/>
          </a:stretch>
        </p:blipFill>
        <p:spPr>
          <a:xfrm>
            <a:off x="7442647" y="2236851"/>
            <a:ext cx="4743312" cy="252565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rcRect l="33363" t="50205" r="52064" b="24324"/>
          <a:stretch>
            <a:fillRect/>
          </a:stretch>
        </p:blipFill>
        <p:spPr>
          <a:xfrm>
            <a:off x="9156447" y="6367243"/>
            <a:ext cx="2869899" cy="2820332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263033" y="1019175"/>
            <a:ext cx="11001723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4000" spc="200" dirty="0">
                <a:solidFill>
                  <a:srgbClr val="EBFDFF"/>
                </a:solidFill>
                <a:latin typeface="Raleway Bold"/>
              </a:rPr>
              <a:t>RESULTADOS DE </a:t>
            </a:r>
            <a:r>
              <a:rPr lang="en-US" sz="4000" spc="200" dirty="0" smtClean="0">
                <a:solidFill>
                  <a:srgbClr val="EBFDFF"/>
                </a:solidFill>
                <a:latin typeface="Raleway Bold"/>
              </a:rPr>
              <a:t>LAS </a:t>
            </a:r>
            <a:r>
              <a:rPr lang="en-US" sz="4000" spc="200" dirty="0">
                <a:solidFill>
                  <a:srgbClr val="EBFDFF"/>
                </a:solidFill>
                <a:latin typeface="Raleway Bold"/>
              </a:rPr>
              <a:t>ENCUESTAS!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85959" y="7099867"/>
            <a:ext cx="4743663" cy="180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4000" spc="200">
                <a:solidFill>
                  <a:srgbClr val="EBFDFF"/>
                </a:solidFill>
                <a:latin typeface="Raleway"/>
              </a:rPr>
              <a:t>HTTPS://FORMS.GLE/9UZWCKS1TV7ZBO4F7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85959" y="2301653"/>
            <a:ext cx="4867786" cy="180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4000" spc="200">
                <a:solidFill>
                  <a:srgbClr val="EBFDFF"/>
                </a:solidFill>
                <a:latin typeface="Raleway"/>
              </a:rPr>
              <a:t>HTTPS://FORMS.GLE/GAG2ERSFGRH483H37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856867" y="2606363"/>
            <a:ext cx="464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 smtClean="0">
                <a:solidFill>
                  <a:schemeClr val="bg1"/>
                </a:solidFill>
              </a:rPr>
              <a:t>* Estas encuestas siguen siendo ejecutadas con ayuda de la Unidad de Servicios Estadísticos UCR  *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rcRect l="14274" r="5217" b="364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121" b="121"/>
          <a:stretch>
            <a:fillRect/>
          </a:stretch>
        </p:blipFill>
        <p:spPr>
          <a:xfrm rot="5400000">
            <a:off x="12590171" y="-186248"/>
            <a:ext cx="5855058" cy="5855058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3048000" y="4533900"/>
            <a:ext cx="1197462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4400" dirty="0" smtClean="0">
                <a:solidFill>
                  <a:schemeClr val="bg1"/>
                </a:solidFill>
              </a:rPr>
              <a:t>Adjuntos varios (videos, presentaciones) en GitHub:</a:t>
            </a:r>
          </a:p>
          <a:p>
            <a:endParaRPr lang="en-US" sz="4400" dirty="0" smtClean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chemeClr val="bg1"/>
                </a:solidFill>
              </a:rPr>
              <a:t>https</a:t>
            </a:r>
            <a:r>
              <a:rPr lang="en-US" sz="4400" dirty="0">
                <a:solidFill>
                  <a:schemeClr val="bg1"/>
                </a:solidFill>
              </a:rPr>
              <a:t>://github.com/eportuguez2019/App_Segura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446656" y="7303951"/>
            <a:ext cx="19162261" cy="429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0"/>
              </a:lnSpc>
            </a:pPr>
            <a:r>
              <a:rPr lang="en-US" sz="30000" dirty="0">
                <a:solidFill>
                  <a:srgbClr val="737373">
                    <a:alpha val="35686"/>
                  </a:srgbClr>
                </a:solidFill>
                <a:latin typeface="DM Sans Bold"/>
              </a:rPr>
              <a:t>Seguridad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-437131" y="4596676"/>
            <a:ext cx="19162261" cy="429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0"/>
              </a:lnSpc>
            </a:pPr>
            <a:r>
              <a:rPr lang="en-US" sz="30000" dirty="0">
                <a:solidFill>
                  <a:srgbClr val="BA568F">
                    <a:alpha val="35686"/>
                  </a:srgbClr>
                </a:solidFill>
                <a:latin typeface="DM Sans Bold"/>
              </a:rPr>
              <a:t>Seguridad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446656" y="1846394"/>
            <a:ext cx="19162261" cy="429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0"/>
              </a:lnSpc>
            </a:pPr>
            <a:r>
              <a:rPr lang="en-US" sz="30000" dirty="0">
                <a:solidFill>
                  <a:srgbClr val="75E6DA">
                    <a:alpha val="45882"/>
                  </a:srgbClr>
                </a:solidFill>
                <a:latin typeface="DM Sans Bold"/>
              </a:rPr>
              <a:t>Seguridad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437131" y="-846121"/>
            <a:ext cx="19162261" cy="429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0"/>
              </a:lnSpc>
            </a:pPr>
            <a:r>
              <a:rPr lang="en-US" sz="30000" dirty="0">
                <a:solidFill>
                  <a:srgbClr val="FFE384">
                    <a:alpha val="56862"/>
                  </a:srgbClr>
                </a:solidFill>
                <a:latin typeface="DM Sans Bold"/>
              </a:rPr>
              <a:t>Seguridad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07321" y="1709851"/>
            <a:ext cx="12108859" cy="2850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00"/>
              </a:lnSpc>
            </a:pPr>
            <a:r>
              <a:rPr lang="en-US" sz="20000">
                <a:solidFill>
                  <a:srgbClr val="000000"/>
                </a:solidFill>
                <a:latin typeface="DM Sans Bold"/>
              </a:rPr>
              <a:t>¡Gracias!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604953" y="4953000"/>
            <a:ext cx="1866404" cy="287541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 r="743"/>
          <a:stretch>
            <a:fillRect/>
          </a:stretch>
        </p:blipFill>
        <p:spPr>
          <a:xfrm>
            <a:off x="11607009" y="6746749"/>
            <a:ext cx="5962629" cy="7305626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551519" y="5287162"/>
            <a:ext cx="10250314" cy="254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>
                <a:solidFill>
                  <a:srgbClr val="000000"/>
                </a:solidFill>
                <a:latin typeface="DM Sans Bold"/>
              </a:rPr>
              <a:t>Únete a la solución, a las mejoras</a:t>
            </a:r>
          </a:p>
          <a:p>
            <a:pPr marL="0" lvl="0" indent="0" algn="ctr">
              <a:lnSpc>
                <a:spcPts val="6600"/>
              </a:lnSpc>
            </a:pPr>
            <a:r>
              <a:rPr lang="en-US" sz="6000">
                <a:solidFill>
                  <a:srgbClr val="000000"/>
                </a:solidFill>
                <a:latin typeface="DM Sans Bold"/>
              </a:rPr>
              <a:t>¡Es por todas!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249</Words>
  <Application>Microsoft Office PowerPoint</Application>
  <PresentationFormat>Personalizado</PresentationFormat>
  <Paragraphs>54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6" baseType="lpstr">
      <vt:lpstr>Calibri</vt:lpstr>
      <vt:lpstr>DM Sans</vt:lpstr>
      <vt:lpstr>Arimo</vt:lpstr>
      <vt:lpstr>DM Sans Bold</vt:lpstr>
      <vt:lpstr>Arimo Bold</vt:lpstr>
      <vt:lpstr>Arial</vt:lpstr>
      <vt:lpstr>Raleway</vt:lpstr>
      <vt:lpstr>Raleway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Bijou Solutions, Inc. | 2020</dc:title>
  <cp:lastModifiedBy>Elena Portuguez</cp:lastModifiedBy>
  <cp:revision>6</cp:revision>
  <dcterms:created xsi:type="dcterms:W3CDTF">2006-08-16T00:00:00Z</dcterms:created>
  <dcterms:modified xsi:type="dcterms:W3CDTF">2020-09-11T17:20:15Z</dcterms:modified>
  <dc:identifier>DAEGswbTZwk</dc:identifier>
</cp:coreProperties>
</file>